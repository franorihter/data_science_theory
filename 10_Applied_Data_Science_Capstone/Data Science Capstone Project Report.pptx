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9.jpeg" ContentType="image/jpeg"/>
  <Override PartName="/ppt/media/image4.jpeg" ContentType="image/jpeg"/>
  <Override PartName="/ppt/media/image5.png" ContentType="image/png"/>
  <Override PartName="/ppt/media/image8.jpeg" ContentType="image/jpeg"/>
  <Override PartName="/ppt/media/image7.jpeg" ContentType="image/jpe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31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46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</p:sldIdLst>
  <p:sldSz cx="12192000" cy="6858000"/>
  <p:notesSz cx="6858000" cy="18573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ABED015-CCB3-46A9-8663-4F43B1A1D24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96E910-F0AE-4DE3-AF83-C3E638CBA8E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BDD6E9-3A21-4648-9298-80F07F0BE16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DC8A28-A225-41A7-9B3C-CD449F0D05B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689EB3-AE98-44AF-AC8C-9C73B89B8D8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724F12B-B8A1-4040-A1A6-FB74FBEA734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F8E9CDA-97F4-4B80-B7FF-5DF39C2DDA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E05DAA0-BDB4-4006-8A32-3C038C9433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6BC706F-503D-4DA8-A53A-C160BB96EF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3CED509-FB0F-4451-96D1-4C49CFD11F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CD3E787-C9A0-421E-8D28-D9B823E39E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A46674B-D5B8-4E4C-B269-03808F47A8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40AB7F5-7D74-4723-ABF8-EB4C4FBAA6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D7D8247-946A-47D7-A9C5-FD0960DB72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92DC891-D19C-4263-9334-D84EDD41C1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B2AAEEB-53F9-415F-9E26-979F5800F5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DE4D18-40A1-45FE-B472-ABC0550DB251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4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973A49-F473-437E-8314-53AAD86AAEC8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7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4D57F3-C167-4CF7-A9C4-2D05E88BDC25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>
                <a:solidFill>
                  <a:srgbClr val="005493"/>
                </a:solidFill>
                <a:latin typeface="IBM Plex Mono SemiBold"/>
                <a:ea typeface="IBM Plex Mono SemiBold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192554-D1C1-4FA8-92CC-15145388EBF1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D1D18C-50D7-4E17-BAA7-E710E950AA30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B05043-1956-4A25-A98D-F0688CCE1A0B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algn="r" defTabSz="914400">
              <a:lnSpc>
                <a:spcPct val="90000"/>
              </a:lnSpc>
              <a:spcBef>
                <a:spcPts val="1001"/>
              </a:spcBef>
              <a:buClr>
                <a:srgbClr val="1c7dd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1c7ddb"/>
                </a:solidFill>
                <a:latin typeface="Abad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08455B-BCBA-46AE-BEA6-A227FFDB9B04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98457D-2802-4F46-8476-5217055B34DD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8A6248-3AF2-43C7-8247-7F50A1A389B5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C000F1-BFD2-485B-8463-28352053C805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2B1955-A904-4F53-AD6B-232A3ABD7B65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5"/>
          <p:cNvSpPr/>
          <p:nvPr/>
        </p:nvSpPr>
        <p:spPr>
          <a:xfrm>
            <a:off x="888480" y="4568760"/>
            <a:ext cx="2514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/>
                </a:solidFill>
                <a:latin typeface="Abadi"/>
                <a:ea typeface="SF Pro"/>
              </a:rPr>
              <a:t>&lt;Name&gt;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2"/>
                </a:solidFill>
                <a:latin typeface="Abadi"/>
                <a:ea typeface="SF Pro"/>
              </a:rPr>
              <a:t>&lt;Date&gt;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Picture 2" descr="IBM Skills Network Logo - Horizontal-noai copy.png"/>
          <p:cNvPicPr/>
          <p:nvPr/>
        </p:nvPicPr>
        <p:blipFill>
          <a:blip r:embed="rId2"/>
          <a:stretch/>
        </p:blipFill>
        <p:spPr>
          <a:xfrm>
            <a:off x="889920" y="676800"/>
            <a:ext cx="2103840" cy="628920"/>
          </a:xfrm>
          <a:prstGeom prst="rect">
            <a:avLst/>
          </a:prstGeom>
          <a:ln w="0">
            <a:noFill/>
          </a:ln>
        </p:spPr>
      </p:pic>
    </p:spTree>
  </p:cSld>
  <p:transition spd="slow">
    <p:push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Num" idx="37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94C44B-2814-4800-9EBB-070C17F1593C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Content Placeholder 2"/>
          <p:cNvSpPr/>
          <p:nvPr/>
        </p:nvSpPr>
        <p:spPr>
          <a:xfrm>
            <a:off x="958680" y="2113200"/>
            <a:ext cx="5166720" cy="33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Outline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Num" idx="38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4FF25BC5-6E0D-4C56-8955-33DD6B0494D8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Content Placeholder 2"/>
          <p:cNvSpPr/>
          <p:nvPr/>
        </p:nvSpPr>
        <p:spPr>
          <a:xfrm>
            <a:off x="959040" y="2684880"/>
            <a:ext cx="4017600" cy="10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8192" lnSpcReduction="20000"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Summary of methodologies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Summary of all results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Executive Summary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Num" idx="39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</a:pPr>
            <a:fld id="{F8F65A20-5027-4278-96BB-7D02789696D7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Title 1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Introduction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ontent Placeholder 2"/>
          <p:cNvSpPr/>
          <p:nvPr/>
        </p:nvSpPr>
        <p:spPr>
          <a:xfrm>
            <a:off x="958680" y="2521440"/>
            <a:ext cx="5660640" cy="18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Project background and context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Problems you want to find answers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40"/>
          </p:nvPr>
        </p:nvSpPr>
        <p:spPr>
          <a:xfrm>
            <a:off x="944892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99B68D-3416-4DA0-ABDB-8C2330DA8E15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&lt;number&gt;</a:t>
            </a:fld>
            <a:endParaRPr b="0" lang="en-US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TextBox 1"/>
          <p:cNvSpPr/>
          <p:nvPr/>
        </p:nvSpPr>
        <p:spPr>
          <a:xfrm>
            <a:off x="717120" y="2812680"/>
            <a:ext cx="115488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Section 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ontent Placeholder 2"/>
          <p:cNvSpPr/>
          <p:nvPr/>
        </p:nvSpPr>
        <p:spPr>
          <a:xfrm>
            <a:off x="770040" y="1580760"/>
            <a:ext cx="10104480" cy="52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26422"/>
          </a:bodyPr>
          <a:p>
            <a:pPr defTabSz="914400">
              <a:lnSpc>
                <a:spcPct val="120000"/>
              </a:lnSpc>
              <a:spcBef>
                <a:spcPts val="1400"/>
              </a:spcBef>
              <a:tabLst>
                <a:tab algn="l" pos="0"/>
              </a:tabLst>
            </a:pPr>
            <a:r>
              <a:rPr b="0" lang="en-US" sz="8800" spc="-1" strike="noStrike">
                <a:solidFill>
                  <a:srgbClr val="0b49cb"/>
                </a:solidFill>
                <a:latin typeface="Abadi"/>
              </a:rPr>
              <a:t>Executive Summary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1400"/>
              </a:spcBef>
              <a:buClr>
                <a:srgbClr val="76717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7600" spc="-1" strike="noStrike">
                <a:solidFill>
                  <a:schemeClr val="lt2">
                    <a:lumMod val="50000"/>
                  </a:schemeClr>
                </a:solidFill>
                <a:latin typeface="Abadi"/>
              </a:rPr>
              <a:t>Describe how data was collected </a:t>
            </a:r>
            <a:endParaRPr b="0" lang="en-US" sz="7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1400"/>
              </a:spcBef>
              <a:buClr>
                <a:srgbClr val="76717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7600" spc="-1" strike="noStrike">
                <a:solidFill>
                  <a:schemeClr val="lt2">
                    <a:lumMod val="50000"/>
                  </a:schemeClr>
                </a:solidFill>
                <a:latin typeface="Abadi"/>
              </a:rPr>
              <a:t>Describe how data was processed</a:t>
            </a:r>
            <a:endParaRPr b="0" lang="en-US" sz="7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Plotly Dash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1400"/>
              </a:spcBef>
              <a:buClr>
                <a:srgbClr val="76717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7600" spc="-1" strike="noStrike">
                <a:solidFill>
                  <a:schemeClr val="lt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  <a:endParaRPr b="0" lang="en-US" sz="7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Methodology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A572854-AA67-48F7-B2D4-7450D6880CEC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Describe how data sets were collected. 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You need to present your data collection process use key phrases and flowcharts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Data Collection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965C179-7F17-4D4E-B9E7-324E20D4C21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5910120" y="1792440"/>
            <a:ext cx="5460480" cy="4206600"/>
          </a:xfrm>
          <a:prstGeom prst="rect">
            <a:avLst/>
          </a:prstGeom>
          <a:noFill/>
          <a:ln w="0">
            <a:solidFill>
              <a:srgbClr val="0b49cb"/>
            </a:solidFill>
            <a:prstDash val="dash"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1c7ddb"/>
                </a:solidFill>
                <a:latin typeface="Abadi"/>
              </a:rPr>
              <a:t>Place your flowchart of SpaceX API calls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20800" y="1800360"/>
            <a:ext cx="4640040" cy="422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data collection with SpaceX REST calls using key phrases and flowcharts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the completed SpaceX API calls notebook </a:t>
            </a:r>
            <a:r>
              <a:rPr b="0" lang="en-US" sz="2200" spc="-1" strike="noStrike">
                <a:solidFill>
                  <a:srgbClr val="1c7ddb"/>
                </a:solidFill>
                <a:latin typeface="Abadi"/>
              </a:rPr>
              <a:t>(must include completed code cell and outcome cell),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as an external reference and peer-review purpose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Data Collection – SpaceX API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D2478DC-FC66-4100-ABE9-8DA3E6620B9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922320" y="17924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the completed web scraping notebook, as an external reference and peer-review purpose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endParaRPr b="0" lang="en-US" sz="4000" spc="-1" strike="noStrike">
              <a:solidFill>
                <a:srgbClr val="1c7ddb"/>
              </a:solidFill>
              <a:latin typeface="Abadi"/>
              <a:ea typeface="IBM Plex Mono SemiBold"/>
            </a:endParaRPr>
          </a:p>
        </p:txBody>
      </p:sp>
      <p:sp>
        <p:nvSpPr>
          <p:cNvPr id="96" name="Title 1"/>
          <p:cNvSpPr/>
          <p:nvPr/>
        </p:nvSpPr>
        <p:spPr>
          <a:xfrm>
            <a:off x="922320" y="69120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Data Collection - Scraping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Content Placeholder 4"/>
          <p:cNvSpPr/>
          <p:nvPr/>
        </p:nvSpPr>
        <p:spPr>
          <a:xfrm>
            <a:off x="5910120" y="1792440"/>
            <a:ext cx="5460480" cy="4206600"/>
          </a:xfrm>
          <a:prstGeom prst="rect">
            <a:avLst/>
          </a:prstGeom>
          <a:noFill/>
          <a:ln w="0">
            <a:solidFill>
              <a:srgbClr val="0b49cb"/>
            </a:solidFill>
            <a:prstDash val="dash"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9C86859-F9BF-468A-A5A3-A7A16380FEC9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897516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Describe how data were processed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You need to present your data wrangling process using key phrases and flowcharts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data wrangling related notebooks, as an external reference and peer-review purpose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Data Wrangling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023C56D-B6F8-4097-980B-210D5C2F4B44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EDA with data visualization notebook, as an external reference and peer-review purpose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EDA with Data Visualization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C3690B8-A32E-4335-BD10-F9BD6A3CD18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770040" y="180648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EDA with SQL notebook, as an external reference and peer-review purpose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EDA with SQL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059F2D4-B03F-4568-B089-BFB2D45B1320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838080" y="18748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map objects such as markers, circles, lines, etc. you created and added to a folium map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why you added those objects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interactive map with Folium map, as an external reference and peer-review purpose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Build an Interactive Map with Folium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9F2D83-5465-4E9B-9EAB-B21E494E88D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plots/graphs and interactions you have added to a dashboard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why you added those plots and interactions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Plotly Dash lab, as an external reference and peer-review purpose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Build a Dashboard with Plotly Dash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B9D4BE9-3E74-4BFC-947E-078070178504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how you built, evaluated, improved, and found the best performing classification model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You need present your model development process using key phrases and flowchart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predictive analysis lab, as an external reference and peer-review purpose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Predictive Analysis (Classification)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9BCD2B1-624A-43EE-9839-6684CEDCD291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ontent Placeholder 2"/>
          <p:cNvSpPr/>
          <p:nvPr/>
        </p:nvSpPr>
        <p:spPr>
          <a:xfrm>
            <a:off x="840960" y="1807200"/>
            <a:ext cx="7068240" cy="16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Exploratory data analysis results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Interactive analytics demo in screenshots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Predictive analysis results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499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Results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CECE5F6-831D-4623-A1E1-A3F3D60AE64C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749880" y="2529720"/>
            <a:ext cx="115488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Section 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8650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scatter plot of Flight Number vs. Launch Site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Flight Number vs. Launch Site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EFD0569-7B7C-4A35-9A6D-D37B3F5E9C41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770040" y="20696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scatter plot of Payload vs. Launch Site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Payload vs. Launch Site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42BCCE4-2D9F-4A04-8EF1-B27E90F9173A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770040" y="20822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bar chart for the success rate of each orbit type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Success Rate vs. Orbit Type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D78A6C4-DCC2-4DEB-91F5-EAFE53AB46C0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770040" y="20696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scatter point of Flight number vs. Orbit type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Flight Number vs. Orbit Type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7AB9864-E518-42EB-8AB7-C266529B945E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/>
          </p:nvPr>
        </p:nvSpPr>
        <p:spPr>
          <a:xfrm>
            <a:off x="77004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scatter point of payload vs. orbit type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Payload vs. Orbit Type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5B4FE94-5A54-423C-BA36-BA193B5B2A67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/>
          </p:nvPr>
        </p:nvSpPr>
        <p:spPr>
          <a:xfrm>
            <a:off x="770040" y="20696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line chart of yearly average success rate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Launch Success Yearly Trend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FEB10FA-0B7B-4BD9-B7FA-C0432DF4B043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names of the unique launch sites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All Launch Site Names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09A6E2A-6282-44BA-8712-BDE7533E027B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Find 5 records where launch sites begin with `CCA`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Launch Site Names Begin with 'CCA'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9701095-286A-4647-B84C-A88DB1F9DD44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Calculate the total payload carried by boosters from NASA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Total Payload Mass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66698DB-1B13-4EC1-9398-7021BB1880AF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Calculate the average payload mass carried by booster version F9 v1.1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Average Payload Mass by F9 v1.1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DF32B92-DE83-4D04-BA9C-0BF9522EC7D8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First Successful Ground Landing Date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F890AD7-06CE-4486-A422-804934E544EF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62254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Successful Drone Ship Landing with Payload between 4000 and 6000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948C1D-D532-43F9-8444-DC84BC39A6A7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Calculate the total number of successful and failure mission outcomes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71505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Total Number of Successful and Failure Mission Outcomes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FC41C85-B0F4-4F5C-8901-B369B87CB6C4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the booster which have carried the maximum payload mass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Boosters Carried Maximum Payload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C998440-F106-464A-BD66-B6E56EEE1679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landing_outcomes in drone ship, their booster versions, and launch site names for in year 2015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2015 Launch Records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B19F4B3-45C3-4923-A3F8-9447AF73E684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70005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Rank Landing Outcomes Between 2010-06-04 and 2017-03-20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1065880-6855-49A6-8A1F-49B600ADE961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6"/>
          <p:cNvSpPr/>
          <p:nvPr/>
        </p:nvSpPr>
        <p:spPr>
          <a:xfrm>
            <a:off x="749880" y="2529720"/>
            <a:ext cx="115488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Section 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&lt;Folium Map Screenshot 1&gt;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6220799-84D5-4CDC-A8BF-C4B430F359A1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  <a:ea typeface="Calibri"/>
              </a:rPr>
              <a:t>Explore the folium map and make a proper screenshot to show the color-labeled launch outcomes on the map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  <a:ea typeface="Calibri"/>
              </a:rPr>
              <a:t>Explain the important elements and findings on the screenshot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&lt;Folium Map Screenshot 2&gt;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54213B1-41BF-4567-B134-46D93622FF84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/>
          </p:nvPr>
        </p:nvSpPr>
        <p:spPr>
          <a:xfrm>
            <a:off x="770040" y="1690560"/>
            <a:ext cx="8597520" cy="431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&lt;Folium Map Screenshot 3&gt;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254BA7F-76DA-4C6A-A5D8-69163A727BC2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749880" y="2529720"/>
            <a:ext cx="115488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Section 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piechart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&lt;Dashboard Screenshot 1&gt;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8AF3477-0336-4FE2-AF97-B31CA7A277F0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734040" y="1825560"/>
            <a:ext cx="10551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piechart for the launch site with highest launch success ratio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&lt;Dashboard Screenshot 2&gt;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C2024F2-A887-4BC3-8AFB-48112FEF815B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104144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3&gt; title with an appropriate title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screenshots of Payload vs. Launch Outcome scatter plot for all sites, with different payload selected in the range slider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&lt;Dashboard Screenshot 3&gt;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D676543-5CD4-40A8-9595-449D1C7ACA2B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749880" y="2529720"/>
            <a:ext cx="115488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Section 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/>
          </p:nvPr>
        </p:nvSpPr>
        <p:spPr>
          <a:xfrm>
            <a:off x="770040" y="2082240"/>
            <a:ext cx="532548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built classification models, in a bar chart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Find which model has the highest classification accuracy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Classification Accuracy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E45BF84-87C7-4738-B522-AFA777781D29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/>
          </p:nvPr>
        </p:nvSpPr>
        <p:spPr>
          <a:xfrm>
            <a:off x="770040" y="2057400"/>
            <a:ext cx="94777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confusion matrix of the best performing model with an explanation 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Confusion Matrix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6487855-7561-4FD6-BC03-EE1B15F835FA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/>
          </p:nvPr>
        </p:nvSpPr>
        <p:spPr>
          <a:xfrm>
            <a:off x="770040" y="1874880"/>
            <a:ext cx="59036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Point 1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Point 2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Point 3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Point 4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…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Conclusions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09CCD69-BEB9-4723-AF3B-A1455745049C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/>
          </p:nvPr>
        </p:nvSpPr>
        <p:spPr>
          <a:xfrm>
            <a:off x="770040" y="18594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Include any relevant assets like Python code snippets, SQL queries, charts, Notebook outputs, or data sets that you may have created during this project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4006"/>
          </a:bodyPr>
          <a:p>
            <a:pPr defTabSz="914400"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Appendix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0B34932-1EDF-4B17-B9A5-37C975E0BD6B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push dir="u"/>
  </p:transition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Application>LibreOffice/24.2.7.2$Linux_X86_64 LibreOffice_project/420$Build-2</Application>
  <AppVersion>15.0000</AppVersion>
  <Words>1346</Words>
  <Paragraphs>234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2021-04-29T18:58:34Z</dcterms:created>
  <dc:creator>YAN Luo</dc:creator>
  <dc:description/>
  <dc:language>en-US</dc:language>
  <cp:lastModifiedBy>YAN Luo</cp:lastModifiedBy>
  <dcterms:modified xsi:type="dcterms:W3CDTF">2022-01-27T14:48:39Z</dcterms:modified>
  <cp:revision>198</cp:revision>
  <dc:subject/>
  <dc:title> &lt;Title&gt;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Notes">
    <vt:i4>4</vt:i4>
  </property>
  <property fmtid="{D5CDD505-2E9C-101B-9397-08002B2CF9AE}" pid="4" name="PresentationFormat">
    <vt:lpwstr>Widescreen</vt:lpwstr>
  </property>
  <property fmtid="{D5CDD505-2E9C-101B-9397-08002B2CF9AE}" pid="5" name="Slides">
    <vt:i4>47</vt:i4>
  </property>
</Properties>
</file>